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us Jakarta Sans"/>
      <p:bold r:id="rId12"/>
    </p:embeddedFont>
    <p:embeddedFont>
      <p:font typeface="Space Grotesk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1" y="1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62350" y="5995987"/>
            <a:ext cx="9525" cy="1524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77000" y="5995987"/>
            <a:ext cx="9525" cy="1524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85800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986462"/>
            <a:ext cx="219075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6675" y="5986462"/>
            <a:ext cx="1524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325" y="5986462"/>
            <a:ext cx="1714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4900" y="700087"/>
            <a:ext cx="34111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Plus Jakarta Sans"/>
              </a:rPr>
              <a:t>JAVA ENGINEERING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431851"/>
            <a:ext cx="8601075" cy="1298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115"/>
              </a:lnSpc>
            </a:pPr>
            <a:r>
              <a:rPr sz="4650" b="1" i="0" u="none">
                <a:solidFill>
                  <a:srgbClr val="FFFFFF"/>
                </a:solidFill>
                <a:latin typeface="Space Grotesk"/>
              </a:rPr>
              <a:t>Fitbit Holistic Wellness Tracking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883223"/>
            <a:ext cx="6191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Modular Java application architecture for real-time biometrics, workout logging, and health telemetry.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5972175"/>
            <a:ext cx="2726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Core Java &amp; MVC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4325" y="5972175"/>
            <a:ext cx="2559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Relational Persistence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8025" y="5972175"/>
            <a:ext cx="2047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Robust Data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86062"/>
            <a:ext cx="3378249" cy="2428875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06949" y="2786062"/>
            <a:ext cx="3378249" cy="2428875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786062"/>
            <a:ext cx="3378249" cy="2428875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13848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274" y="313848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224" y="313848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862" y="3262312"/>
            <a:ext cx="2381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5099" y="3262312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0049" y="3262312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A73E8"/>
                </a:solidFill>
                <a:latin typeface="Plus Jakarta Sans"/>
              </a:rPr>
              <a:t>SYSTEM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Modular Object-Oriented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824287"/>
            <a:ext cx="360884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Domain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4176712"/>
            <a:ext cx="284484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Strictly typed entities for vitals, nutrition logs, sleep cycles, and user telemetry.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1274" y="3824287"/>
            <a:ext cx="360884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Business Logic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1274" y="4176712"/>
            <a:ext cx="284484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Deterministic calorie burn calculation, BMI indexing, and cycle projection algorithms.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224" y="3824287"/>
            <a:ext cx="360884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Aggregation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224" y="4176712"/>
            <a:ext cx="284484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Real-time daily rollups, goal deficit monitoring, and multi-stream health scoring.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l="3223" t="7933" r="3687" b="2268"/>
          <a:stretch>
            <a:fillRect/>
          </a:stretch>
        </p:blipFill>
        <p:spPr>
          <a:xfrm>
            <a:off x="5678864" y="924115"/>
            <a:ext cx="5751136" cy="4885944"/>
          </a:xfrm>
          <a:prstGeom prst="rect">
            <a:avLst/>
          </a:prstGeom>
          <a:effectLst>
            <a:outerShdw blurRad="139700" dist="38100" dir="2700000" sx="101000" sy="101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709862"/>
            <a:ext cx="3429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595687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481512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805112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690937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4576762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A73E8"/>
                </a:solidFill>
                <a:latin typeface="Plus Jakarta Sans"/>
              </a:rPr>
              <a:t>CENTRAL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Real-Time Activity Telemetry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300" y="2709862"/>
            <a:ext cx="492346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Activity Rings &amp; Pacing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7300" y="2967037"/>
            <a:ext cx="384646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Instant calculation of steps, active minutes, and heart points.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7300" y="3595687"/>
            <a:ext cx="492346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Unified Health Glance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7300" y="3852862"/>
            <a:ext cx="384646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Consolidated overview across sleep, vitals, nutrition, and water.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7300" y="4481512"/>
            <a:ext cx="492346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Reactive Data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7300" y="4738687"/>
            <a:ext cx="384646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Instant widget refresh upon workout or metric updates.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1595" y="1204912"/>
            <a:ext cx="3352800" cy="1190625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456838" y="1204912"/>
            <a:ext cx="3352800" cy="1190625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14438" y="1204912"/>
            <a:ext cx="3352800" cy="1190625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869009" y="2633662"/>
            <a:ext cx="8453981" cy="3947353"/>
          </a:xfrm>
          <a:prstGeom prst="rect">
            <a:avLst/>
          </a:prstGeom>
          <a:effectLst>
            <a:outerShdw blurRad="228600" dist="38100" dir="2700000" sx="101000" sy="101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601595" y="438910"/>
            <a:ext cx="176618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1A73E8"/>
                </a:solidFill>
                <a:latin typeface="Plus Jakarta Sans"/>
              </a:rPr>
              <a:t>WORKOUT JOURNAL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595" y="702468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Space Grotesk"/>
              </a:rPr>
              <a:t>Multi-Discipline Exercise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0" y="1443037"/>
            <a:ext cx="3500437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 dirty="0">
                <a:solidFill>
                  <a:srgbClr val="1A73E8"/>
                </a:solidFill>
                <a:latin typeface="Space Grotesk"/>
              </a:rPr>
              <a:t>6+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0" y="1976437"/>
            <a:ext cx="3500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Workout modalities supported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0" y="1443037"/>
            <a:ext cx="3500437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0F172A"/>
                </a:solidFill>
                <a:latin typeface="Space Grotesk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3063" y="1976437"/>
            <a:ext cx="3500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Caloric burn precision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0663" y="1443037"/>
            <a:ext cx="3500437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EF4444"/>
                </a:solidFill>
                <a:latin typeface="Space Grotesk"/>
              </a:rPr>
              <a:t>4 Levels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0663" y="1976437"/>
            <a:ext cx="3500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Intensity grading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A73E8"/>
                </a:solidFill>
                <a:latin typeface="Plus Jakarta Sans"/>
              </a:rPr>
              <a:t>BIOMETRICS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Clinical-Grade Vitals Monitoring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E34CA0B-8467-C2BF-8159-B97F5499DE34}"/>
              </a:ext>
            </a:extLst>
          </p:cNvPr>
          <p:cNvGrpSpPr/>
          <p:nvPr/>
        </p:nvGrpSpPr>
        <p:grpSpPr>
          <a:xfrm>
            <a:off x="306032" y="5617521"/>
            <a:ext cx="3915772" cy="1009650"/>
            <a:chOff x="7183487" y="2181225"/>
            <a:chExt cx="5008512" cy="1009650"/>
          </a:xfrm>
        </p:grpSpPr>
        <p:sp>
          <p:nvSpPr>
            <p:cNvPr id="2" name="Rounded Rectangle 1"/>
            <p:cNvSpPr/>
            <p:nvPr/>
          </p:nvSpPr>
          <p:spPr>
            <a:xfrm>
              <a:off x="7183487" y="2181225"/>
              <a:ext cx="4246512" cy="1009650"/>
            </a:xfrm>
            <a:prstGeom prst="roundRect">
              <a:avLst>
                <a:gd name="adj" fmla="val 11320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2087" y="2371725"/>
              <a:ext cx="4779912" cy="20955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75" b="1" i="0" u="none" dirty="0">
                  <a:solidFill>
                    <a:srgbClr val="0F172A"/>
                  </a:solidFill>
                  <a:latin typeface="Plus Jakarta Sans"/>
                </a:rPr>
                <a:t>Hemodynamic Monitoring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2087" y="2638425"/>
              <a:ext cx="3884562" cy="3619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25" b="0" i="0" u="none" dirty="0">
                  <a:solidFill>
                    <a:srgbClr val="64748B"/>
                  </a:solidFill>
                  <a:latin typeface="Plus Jakarta Sans"/>
                </a:rPr>
                <a:t>Resting heart rate, active pulse, and systolic blood pressure.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96DE320-3F4E-1FF2-000C-D7117DBED6A3}"/>
              </a:ext>
            </a:extLst>
          </p:cNvPr>
          <p:cNvGrpSpPr/>
          <p:nvPr/>
        </p:nvGrpSpPr>
        <p:grpSpPr>
          <a:xfrm>
            <a:off x="4420719" y="5617521"/>
            <a:ext cx="3915772" cy="1009650"/>
            <a:chOff x="7183487" y="3419475"/>
            <a:chExt cx="5008512" cy="1009650"/>
          </a:xfrm>
        </p:grpSpPr>
        <p:sp>
          <p:nvSpPr>
            <p:cNvPr id="3" name="Rounded Rectangle 2"/>
            <p:cNvSpPr/>
            <p:nvPr/>
          </p:nvSpPr>
          <p:spPr>
            <a:xfrm>
              <a:off x="7183487" y="3419475"/>
              <a:ext cx="4246512" cy="1009650"/>
            </a:xfrm>
            <a:prstGeom prst="roundRect">
              <a:avLst>
                <a:gd name="adj" fmla="val 11320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12087" y="3609975"/>
              <a:ext cx="4779912" cy="20955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75" b="1" i="0" u="none" dirty="0">
                  <a:solidFill>
                    <a:srgbClr val="0F172A"/>
                  </a:solidFill>
                  <a:latin typeface="Plus Jakarta Sans"/>
                </a:rPr>
                <a:t>Oxygen &amp; Metabolic Tracking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412087" y="3876675"/>
              <a:ext cx="3884562" cy="3619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25" b="0" i="0" u="none">
                  <a:solidFill>
                    <a:srgbClr val="64748B"/>
                  </a:solidFill>
                  <a:latin typeface="Plus Jakarta Sans"/>
                </a:rPr>
                <a:t>Continuous SpO2 saturation and fast blood glucose readings.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E3768B-0783-5D21-E4F7-748B0B0C2490}"/>
              </a:ext>
            </a:extLst>
          </p:cNvPr>
          <p:cNvGrpSpPr/>
          <p:nvPr/>
        </p:nvGrpSpPr>
        <p:grpSpPr>
          <a:xfrm>
            <a:off x="8535406" y="5617521"/>
            <a:ext cx="3915772" cy="1009650"/>
            <a:chOff x="7183487" y="4657725"/>
            <a:chExt cx="5008512" cy="1009650"/>
          </a:xfrm>
        </p:grpSpPr>
        <p:sp>
          <p:nvSpPr>
            <p:cNvPr id="4" name="Rounded Rectangle 3"/>
            <p:cNvSpPr/>
            <p:nvPr/>
          </p:nvSpPr>
          <p:spPr>
            <a:xfrm>
              <a:off x="7183487" y="4657725"/>
              <a:ext cx="4246512" cy="1009650"/>
            </a:xfrm>
            <a:prstGeom prst="roundRect">
              <a:avLst>
                <a:gd name="adj" fmla="val 11320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2087" y="4848225"/>
              <a:ext cx="4779912" cy="20955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75" b="1" i="0" u="none" dirty="0">
                  <a:solidFill>
                    <a:srgbClr val="0F172A"/>
                  </a:solidFill>
                  <a:latin typeface="Plus Jakarta Sans"/>
                </a:rPr>
                <a:t>Anomaly Detection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412087" y="5114925"/>
              <a:ext cx="3884562" cy="3619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25" b="0" i="0" u="none">
                  <a:solidFill>
                    <a:srgbClr val="64748B"/>
                  </a:solidFill>
                  <a:latin typeface="Plus Jakarta Sans"/>
                </a:rPr>
                <a:t>Instant indicator badges for normal and out-of-range bounds.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E2AA3EF4-F817-79CF-9D12-170CBFE6D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143" y="1282430"/>
            <a:ext cx="9011822" cy="42078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248400" y="1562100"/>
            <a:ext cx="5181600" cy="47625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714875" y="1838325"/>
            <a:ext cx="952500" cy="247650"/>
          </a:xfrm>
          <a:prstGeom prst="roundRect">
            <a:avLst>
              <a:gd name="adj" fmla="val 2307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72700" y="1838325"/>
            <a:ext cx="981075" cy="247650"/>
          </a:xfrm>
          <a:prstGeom prst="roundRect">
            <a:avLst>
              <a:gd name="adj" fmla="val 23076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533400"/>
            <a:ext cx="154792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1A73E8"/>
                </a:solidFill>
                <a:latin typeface="Plus Jakarta Sans"/>
              </a:rPr>
              <a:t>RECOVERY &amp; FUEL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Dual-Stream Energy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5448300"/>
            <a:ext cx="4724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Hypnogram stage decomposition dividing deep, light, and REM intervals with efficiency scoring.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1843087"/>
            <a:ext cx="22502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Sleep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67950" y="1876425"/>
            <a:ext cx="8858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B5CF6"/>
                </a:solidFill>
                <a:latin typeface="Plus Jakarta Sans"/>
              </a:rPr>
              <a:t>Rest Module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AE6744-4389-49FC-8CBF-2B157433508A}"/>
              </a:ext>
            </a:extLst>
          </p:cNvPr>
          <p:cNvGrpSpPr/>
          <p:nvPr/>
        </p:nvGrpSpPr>
        <p:grpSpPr>
          <a:xfrm>
            <a:off x="762000" y="1562100"/>
            <a:ext cx="5113506" cy="4762500"/>
            <a:chOff x="762000" y="1562100"/>
            <a:chExt cx="5181600" cy="3155815"/>
          </a:xfrm>
        </p:grpSpPr>
        <p:sp>
          <p:nvSpPr>
            <p:cNvPr id="2" name="Rounded Rectangle 1"/>
            <p:cNvSpPr/>
            <p:nvPr/>
          </p:nvSpPr>
          <p:spPr>
            <a:xfrm>
              <a:off x="762000" y="1562100"/>
              <a:ext cx="5181600" cy="3155815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38225" y="4172733"/>
              <a:ext cx="4724400" cy="4000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sz="1125" b="0" i="0" u="none" dirty="0">
                  <a:solidFill>
                    <a:srgbClr val="64748B"/>
                  </a:solidFill>
                  <a:latin typeface="Plus Jakarta Sans"/>
                </a:rPr>
                <a:t>Detailed intake logs for protein, carbs, and fats categorized across breakfast, lunch, and dinner.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38225" y="1843087"/>
              <a:ext cx="2812851" cy="2381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500" b="1" i="0" u="none">
                  <a:solidFill>
                    <a:srgbClr val="0F172A"/>
                  </a:solidFill>
                  <a:latin typeface="Plus Jakarta Sans"/>
                </a:rPr>
                <a:t>Macronutrient Tracking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10125" y="1876425"/>
              <a:ext cx="857250" cy="1714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1" i="0" u="none">
                  <a:solidFill>
                    <a:srgbClr val="1A73E8"/>
                  </a:solidFill>
                  <a:latin typeface="Plus Jakarta Sans"/>
                </a:rPr>
                <a:t>Fuel Module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CB16910-6F4C-586B-C0E8-EF4174AEF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2975" y="2262491"/>
              <a:ext cx="4724400" cy="1767367"/>
            </a:xfrm>
            <a:prstGeom prst="rect">
              <a:avLst/>
            </a:prstGeom>
          </p:spPr>
        </p:pic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974CB340-7D9F-368C-8138-969395088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149" y="2619072"/>
            <a:ext cx="4752876" cy="2602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3009900"/>
            <a:ext cx="4632573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3695700"/>
            <a:ext cx="4632573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4381500"/>
            <a:ext cx="4632573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533400"/>
            <a:ext cx="2088520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1A73E8"/>
                </a:solidFill>
                <a:latin typeface="Plus Jakarta Sans"/>
              </a:rPr>
              <a:t>USER PERSONALIZATION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Custom Goal Engine &amp; Onboarding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917B96D-B521-B7C5-0C91-77B96FC63BF1}"/>
              </a:ext>
            </a:extLst>
          </p:cNvPr>
          <p:cNvGrpSpPr/>
          <p:nvPr/>
        </p:nvGrpSpPr>
        <p:grpSpPr>
          <a:xfrm>
            <a:off x="790575" y="2476500"/>
            <a:ext cx="4226121" cy="491669"/>
            <a:chOff x="762000" y="3009900"/>
            <a:chExt cx="4226121" cy="491669"/>
          </a:xfrm>
        </p:grpSpPr>
        <p:sp>
          <p:nvSpPr>
            <p:cNvPr id="5" name="Rectangle 4"/>
            <p:cNvSpPr/>
            <p:nvPr/>
          </p:nvSpPr>
          <p:spPr>
            <a:xfrm>
              <a:off x="762000" y="3009900"/>
              <a:ext cx="28575" cy="4572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42975" y="3009900"/>
              <a:ext cx="3127844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u="none" dirty="0">
                  <a:solidFill>
                    <a:srgbClr val="0F172A"/>
                  </a:solidFill>
                  <a:latin typeface="Plus Jakarta Sans"/>
                </a:rPr>
                <a:t>Personalized Biometric Baselines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42975" y="3286125"/>
              <a:ext cx="4045146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400" b="0" i="0" u="none" dirty="0">
                  <a:solidFill>
                    <a:srgbClr val="64748B"/>
                  </a:solidFill>
                  <a:latin typeface="Plus Jakarta Sans"/>
                </a:rPr>
                <a:t>Height, target weight, age, and gender-calibrated goals.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121BEF2-1121-0256-F6F9-442CCCDFAB73}"/>
              </a:ext>
            </a:extLst>
          </p:cNvPr>
          <p:cNvGrpSpPr/>
          <p:nvPr/>
        </p:nvGrpSpPr>
        <p:grpSpPr>
          <a:xfrm>
            <a:off x="791349" y="3429000"/>
            <a:ext cx="4307874" cy="491669"/>
            <a:chOff x="762000" y="3695700"/>
            <a:chExt cx="4307874" cy="491669"/>
          </a:xfrm>
        </p:grpSpPr>
        <p:sp>
          <p:nvSpPr>
            <p:cNvPr id="6" name="Rectangle 5"/>
            <p:cNvSpPr/>
            <p:nvPr/>
          </p:nvSpPr>
          <p:spPr>
            <a:xfrm>
              <a:off x="762000" y="3695700"/>
              <a:ext cx="28575" cy="4572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42975" y="3695700"/>
              <a:ext cx="2217402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u="none" dirty="0">
                  <a:solidFill>
                    <a:srgbClr val="0F172A"/>
                  </a:solidFill>
                  <a:latin typeface="Plus Jakarta Sans"/>
                </a:rPr>
                <a:t>Daily Target Thresholds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42975" y="3971925"/>
              <a:ext cx="4126899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400" b="0" i="0" u="none" dirty="0">
                  <a:solidFill>
                    <a:srgbClr val="64748B"/>
                  </a:solidFill>
                  <a:latin typeface="Plus Jakarta Sans"/>
                </a:rPr>
                <a:t>10,000 steps, caloric caps, and 2500ml hydration targets</a:t>
              </a:r>
              <a:r>
                <a:rPr sz="1125" b="0" i="0" u="none" dirty="0">
                  <a:solidFill>
                    <a:srgbClr val="64748B"/>
                  </a:solidFill>
                  <a:latin typeface="Plus Jakarta Sans"/>
                </a:rPr>
                <a:t>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89B74E2-FA12-D5E5-2C15-4C9BD8F651F8}"/>
              </a:ext>
            </a:extLst>
          </p:cNvPr>
          <p:cNvGrpSpPr/>
          <p:nvPr/>
        </p:nvGrpSpPr>
        <p:grpSpPr>
          <a:xfrm>
            <a:off x="762000" y="4381500"/>
            <a:ext cx="4645467" cy="491669"/>
            <a:chOff x="762000" y="4381500"/>
            <a:chExt cx="4645467" cy="491669"/>
          </a:xfrm>
        </p:grpSpPr>
        <p:sp>
          <p:nvSpPr>
            <p:cNvPr id="7" name="Rectangle 6"/>
            <p:cNvSpPr/>
            <p:nvPr/>
          </p:nvSpPr>
          <p:spPr>
            <a:xfrm>
              <a:off x="762000" y="4381500"/>
              <a:ext cx="28575" cy="4572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42975" y="4381500"/>
              <a:ext cx="2564035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u="none" dirty="0">
                  <a:solidFill>
                    <a:srgbClr val="0F172A"/>
                  </a:solidFill>
                  <a:latin typeface="Plus Jakarta Sans"/>
                </a:rPr>
                <a:t>Thematic UI Customization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42975" y="4657725"/>
              <a:ext cx="4464492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400" b="0" i="0" u="none" dirty="0">
                  <a:solidFill>
                    <a:srgbClr val="64748B"/>
                  </a:solidFill>
                  <a:latin typeface="Plus Jakarta Sans"/>
                </a:rPr>
                <a:t>User avatar accents and dynamic Google Blue theme themes</a:t>
              </a:r>
              <a:r>
                <a:rPr sz="1125" b="0" i="0" u="none" dirty="0">
                  <a:solidFill>
                    <a:srgbClr val="64748B"/>
                  </a:solidFill>
                  <a:latin typeface="Plus Jakarta Sans"/>
                </a:rPr>
                <a:t>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D99818C-F5D8-08FA-5207-852A68152E07}"/>
              </a:ext>
            </a:extLst>
          </p:cNvPr>
          <p:cNvGrpSpPr/>
          <p:nvPr/>
        </p:nvGrpSpPr>
        <p:grpSpPr>
          <a:xfrm>
            <a:off x="6566170" y="581326"/>
            <a:ext cx="4863830" cy="5695347"/>
            <a:chOff x="7138122" y="1219200"/>
            <a:chExt cx="3640125" cy="4262438"/>
          </a:xfrm>
        </p:grpSpPr>
        <p:pic>
          <p:nvPicPr>
            <p:cNvPr id="8" name="Picture 7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8122" y="1219200"/>
              <a:ext cx="3640125" cy="4262438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BBB34E3-BBC5-018B-6ED9-A08D77F2E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1157" t="6097" r="11695" b="6497"/>
            <a:stretch>
              <a:fillRect/>
            </a:stretch>
          </p:blipFill>
          <p:spPr>
            <a:xfrm>
              <a:off x="7287681" y="1376362"/>
              <a:ext cx="3362107" cy="40005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852737"/>
            <a:ext cx="5219700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852737"/>
            <a:ext cx="5219700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014787"/>
            <a:ext cx="5219700" cy="1095375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014787"/>
            <a:ext cx="5219700" cy="1095375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09086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309086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25" y="433387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333875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1575" y="3224212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224212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1575" y="4467225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9875" y="4467225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A73E8"/>
                </a:solidFill>
                <a:latin typeface="Plus Jakarta Sans"/>
              </a:rPr>
              <a:t>HOLISTIC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Advanced Body &amp; Cycle Telemetry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5925" y="3100387"/>
            <a:ext cx="503812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Body Composition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5925" y="3357562"/>
            <a:ext cx="47982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Automatic calculation of BMI and body fat percentages.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4225" y="3100387"/>
            <a:ext cx="41505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Cycle Phase Forecasting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4225" y="3357562"/>
            <a:ext cx="3952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Follicular and luteal phase timeline predictions.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5925" y="4252912"/>
            <a:ext cx="527565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Anthropometric Logs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5925" y="4510087"/>
            <a:ext cx="4114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Tape measurements including waist and hip circumferences.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4225" y="4343400"/>
            <a:ext cx="5000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Symptom &amp; Mood Journal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4225" y="4600575"/>
            <a:ext cx="4762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Qualitative energy ratings paired with quantitative stats.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74628" y="3314700"/>
            <a:ext cx="952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131075" y="3314700"/>
            <a:ext cx="952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A73E8"/>
                </a:solidFill>
                <a:latin typeface="Plus Jakarta Sans"/>
              </a:rPr>
              <a:t>TECHNICAL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Engineering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008" y="3319462"/>
            <a:ext cx="2655093" cy="80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sz="6300" b="1" i="0" u="none">
                <a:solidFill>
                  <a:srgbClr val="0F172A"/>
                </a:solidFill>
                <a:latin typeface="Space Grotesk"/>
              </a:rPr>
              <a:t>7+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008" y="4233862"/>
            <a:ext cx="26550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"/>
              </a:rPr>
              <a:t>Integrated health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4583" y="3319462"/>
            <a:ext cx="2786062" cy="80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sz="6300" b="1" i="0" u="none">
                <a:solidFill>
                  <a:srgbClr val="1A73E8"/>
                </a:solidFill>
                <a:latin typeface="Space Grotesk"/>
              </a:rPr>
              <a:t>0ms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4583" y="4233862"/>
            <a:ext cx="27860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"/>
              </a:rPr>
              <a:t>In-memory aggregation lag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9605" y="3319462"/>
            <a:ext cx="2500312" cy="80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sz="6300" b="1" i="0" u="none">
                <a:solidFill>
                  <a:srgbClr val="0F172A"/>
                </a:solidFill>
                <a:latin typeface="Space Grotesk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9605" y="4233862"/>
            <a:ext cx="2500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"/>
              </a:rPr>
              <a:t>Deterministic data 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76825" y="4429125"/>
            <a:ext cx="2038350" cy="3714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057400"/>
            <a:ext cx="53340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175" y="2200275"/>
            <a:ext cx="24765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52069" y="2819400"/>
            <a:ext cx="288786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Space Grotesk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1312" y="3552825"/>
            <a:ext cx="6429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Fitbit Health Tracker — Designed and engineered in Java with clean object-oriented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2531" y="4524375"/>
            <a:ext cx="216693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E2E8F0"/>
                </a:solidFill>
                <a:latin typeface="Plus Jakarta San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383</Words>
  <Application>Microsoft Office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Plus Jakarta Sans</vt:lpstr>
      <vt:lpstr>Calibri</vt:lpstr>
      <vt:lpstr>Arial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abhay chourasia</dc:creator>
  <cp:keywords/>
  <dc:description>generated using python-pptx</dc:description>
  <cp:lastModifiedBy>abhay chourasia</cp:lastModifiedBy>
  <cp:revision>2</cp:revision>
  <dcterms:created xsi:type="dcterms:W3CDTF">2013-01-27T09:14:16Z</dcterms:created>
  <dcterms:modified xsi:type="dcterms:W3CDTF">2026-10-10T06:04:52Z</dcterms:modified>
  <cp:category/>
</cp:coreProperties>
</file>